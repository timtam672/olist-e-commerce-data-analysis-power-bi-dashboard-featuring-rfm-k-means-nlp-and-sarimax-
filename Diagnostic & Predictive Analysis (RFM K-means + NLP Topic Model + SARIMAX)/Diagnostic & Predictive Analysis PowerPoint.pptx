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72" r:id="rId15"/>
    <p:sldId id="274" r:id="rId16"/>
    <p:sldId id="275" r:id="rId17"/>
    <p:sldId id="276" r:id="rId18"/>
    <p:sldId id="269" r:id="rId19"/>
    <p:sldId id="270" r:id="rId20"/>
  </p:sldIdLst>
  <p:sldSz cx="14630400" cy="8229600"/>
  <p:notesSz cx="8229600" cy="14630400"/>
  <p:embeddedFontLst>
    <p:embeddedFont>
      <p:font typeface="Rockwell Extra Bold" panose="02060903040505020403" pitchFamily="18" charset="0"/>
      <p:bold r:id="rId22"/>
    </p:embeddedFont>
    <p:embeddedFont>
      <p:font typeface="Segoe UI" panose="020B0502040204020203" pitchFamily="34" charset="0"/>
      <p:regular r:id="rId23"/>
      <p:bold r:id="rId24"/>
      <p:italic r:id="rId25"/>
      <p:boldItalic r:id="rId26"/>
    </p:embeddedFont>
    <p:embeddedFont>
      <p:font typeface="Source Sans 3" panose="02020500000000000000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2B5"/>
    <a:srgbClr val="124E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10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0715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10213-95EF-1D46-195F-39EB80537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F48766-E9CC-6C34-25F4-BA2A5721D9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37A1A9-9B6E-091B-1762-D67B607E8B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64B97C-4CFE-6BEC-909C-73F99A2236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0614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BC0C9-EC6E-4EFE-11A3-35C7C2387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7C8984-02FC-CBCE-9C63-648808A0AF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E9E30A-4B8A-88AA-8CB5-D7E111FE09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FDBD8-77A9-FA8D-3980-3432E281F1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979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1E0C2-DC88-6C58-B355-14E0E69F0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1AFD51-4D06-8F5A-D59B-4B6EB857B4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CA6422-A689-0737-C354-F51A96A636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40477-65E1-B040-2E37-39C4E2B5C9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0820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31814-0869-2438-A5DB-B452758C4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DFF182-B570-6DB2-ACB9-60B28A5E1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504FB4-778D-0EAF-47F4-B83F30928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53C87-77CA-6AE9-9851-D19F3AD3FA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7359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3157B-ACE9-325A-87C0-702793A8B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9EC132-FE29-BA4A-0729-EF0F9FBB31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366E5A-17E9-1BA0-3DD8-192822C990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6310A-EE79-7343-C94E-157E701673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1094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3EEE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1484948"/>
            <a:ext cx="5259705" cy="52597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391013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24E73"/>
                </a:solidFill>
                <a:latin typeface="Rockwell Extra Bold" panose="02060903040505020403" pitchFamily="18" charset="0"/>
                <a:ea typeface="MuseoModerno Medium" pitchFamily="34" charset="-122"/>
                <a:cs typeface="MuseoModerno Medium" pitchFamily="34" charset="-120"/>
              </a:rPr>
              <a:t>Olist E-Commerce Diagnostic &amp; Predictive Analytics</a:t>
            </a:r>
            <a:endParaRPr lang="en-US" sz="4450" b="1" dirty="0">
              <a:latin typeface="Rockwell Extra Bold" panose="02060903040505020403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485751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DASC4300 Capstone Project</a:t>
            </a:r>
            <a:endParaRPr lang="en-US" sz="17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547556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Student Name:</a:t>
            </a:r>
            <a:r>
              <a:rPr lang="en-US" sz="175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 Tam Wing Ching · </a:t>
            </a:r>
            <a:r>
              <a:rPr lang="en-US" sz="1750" b="1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ID:</a:t>
            </a:r>
            <a:r>
              <a:rPr lang="en-US" sz="175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 21007532</a:t>
            </a:r>
            <a:endParaRPr lang="en-US" sz="17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82140"/>
            <a:ext cx="81231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24E73"/>
                </a:solidFill>
                <a:latin typeface="Rockwell Extra Bold" panose="02060903040505020403" pitchFamily="18" charset="0"/>
                <a:ea typeface="MuseoModerno Medium" pitchFamily="34" charset="-122"/>
                <a:cs typeface="MuseoModerno Medium" pitchFamily="34" charset="-120"/>
              </a:rPr>
              <a:t>Project Scope &amp; Methodology</a:t>
            </a:r>
            <a:endParaRPr lang="en-US" sz="4450" b="1" dirty="0">
              <a:latin typeface="Rockwell Extra Bold" panose="020609030405050204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3044547"/>
            <a:ext cx="4196358" cy="3302913"/>
          </a:xfrm>
          <a:prstGeom prst="roundRect">
            <a:avLst>
              <a:gd name="adj" fmla="val 1030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020604" y="327136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25F7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7770" y="3458408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Segoe UI" panose="020B0502040204020203" pitchFamily="34" charset="0"/>
                <a:ea typeface="MuseoModerno Medium" pitchFamily="34" charset="-122"/>
                <a:cs typeface="Segoe UI" panose="020B0502040204020203" pitchFamily="34" charset="0"/>
              </a:rPr>
              <a:t>Problem Statement</a:t>
            </a:r>
            <a:endParaRPr lang="en-US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20604" y="4669036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Olist faces low retention despite high acquisition.</a:t>
            </a:r>
            <a:endParaRPr lang="en-US" sz="17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216962" y="3044547"/>
            <a:ext cx="4196358" cy="3302913"/>
          </a:xfrm>
          <a:prstGeom prst="roundRect">
            <a:avLst>
              <a:gd name="adj" fmla="val 1030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5443776" y="327136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25F7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0942" y="3458408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3776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Segoe UI" panose="020B0502040204020203" pitchFamily="34" charset="0"/>
                <a:ea typeface="MuseoModerno Medium" pitchFamily="34" charset="-122"/>
                <a:cs typeface="Segoe UI" panose="020B0502040204020203" pitchFamily="34" charset="0"/>
              </a:rPr>
              <a:t>Solution Approach</a:t>
            </a:r>
            <a:endParaRPr lang="en-US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443776" y="4669036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GB" sz="1600" dirty="0">
                <a:latin typeface="Segoe UI" panose="020B0502040204020203" pitchFamily="34" charset="0"/>
                <a:cs typeface="Segoe UI" panose="020B0502040204020203" pitchFamily="34" charset="0"/>
              </a:rPr>
              <a:t>A data-driven pipeline: Segmenting high-risk customers, uncovering pain points in feedback, and forecasting demand patterns</a:t>
            </a:r>
            <a:endParaRPr lang="en-US" sz="17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9640133" y="3044547"/>
            <a:ext cx="4196358" cy="3302913"/>
          </a:xfrm>
          <a:prstGeom prst="roundRect">
            <a:avLst>
              <a:gd name="adj" fmla="val 1030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0"/>
          <p:cNvSpPr/>
          <p:nvPr/>
        </p:nvSpPr>
        <p:spPr>
          <a:xfrm>
            <a:off x="9866948" y="327136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25F7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54114" y="3458408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6948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Segoe UI" panose="020B0502040204020203" pitchFamily="34" charset="0"/>
                <a:ea typeface="MuseoModerno Medium" pitchFamily="34" charset="-122"/>
                <a:cs typeface="Segoe UI" panose="020B0502040204020203" pitchFamily="34" charset="0"/>
              </a:rPr>
              <a:t>Objective</a:t>
            </a:r>
            <a:endParaRPr lang="en-US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9866948" y="4669036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Transform Olist from transactional to customer-centric.</a:t>
            </a:r>
            <a:endParaRPr lang="en-US" sz="17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5696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24E73"/>
                </a:solidFill>
                <a:latin typeface="Rockwell Extra Bold" panose="02060903040505020403" pitchFamily="18" charset="0"/>
                <a:ea typeface="MuseoModerno Medium" pitchFamily="34" charset="-122"/>
                <a:cs typeface="MuseoModerno Medium" pitchFamily="34" charset="-120"/>
              </a:rPr>
              <a:t>Predictive &amp; Diagnostic Analysis</a:t>
            </a:r>
            <a:endParaRPr lang="en-US" sz="4450" b="1" dirty="0">
              <a:latin typeface="Rockwell Extra Bold" panose="02060903040505020403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280190" y="3214688"/>
            <a:ext cx="3891558" cy="2024182"/>
          </a:xfrm>
          <a:prstGeom prst="roundRect">
            <a:avLst>
              <a:gd name="adj" fmla="val 1681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6507004" y="3441502"/>
            <a:ext cx="3417832" cy="3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GB" sz="2200" b="1" dirty="0" err="1">
                <a:solidFill>
                  <a:srgbClr val="124E7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Behavioral</a:t>
            </a:r>
            <a:r>
              <a:rPr lang="en-GB" sz="2200" b="1" dirty="0">
                <a:solidFill>
                  <a:srgbClr val="124E7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Segmentation</a:t>
            </a:r>
            <a:endParaRPr lang="en-US" sz="2200" b="1" dirty="0">
              <a:solidFill>
                <a:srgbClr val="124E7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507004" y="3842886"/>
            <a:ext cx="3211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GB" sz="1600" dirty="0">
                <a:latin typeface="Segoe UI" panose="020B0502040204020203" pitchFamily="34" charset="0"/>
                <a:cs typeface="Segoe UI" panose="020B0502040204020203" pitchFamily="34" charset="0"/>
              </a:rPr>
              <a:t>Targeting high-churn risks using </a:t>
            </a:r>
            <a:r>
              <a:rPr lang="en-GB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RFM-based K-Means clustering</a:t>
            </a:r>
            <a:r>
              <a:rPr lang="en-GB" sz="16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n-US" sz="17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0398562" y="3214688"/>
            <a:ext cx="3438049" cy="2024182"/>
          </a:xfrm>
          <a:prstGeom prst="roundRect">
            <a:avLst>
              <a:gd name="adj" fmla="val 1681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0604435" y="34415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GB" sz="2200" b="1" dirty="0">
                <a:solidFill>
                  <a:srgbClr val="124E7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Feedback Diagnostics</a:t>
            </a:r>
            <a:endParaRPr lang="en-US" sz="2200" b="1" dirty="0">
              <a:solidFill>
                <a:srgbClr val="124E7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604435" y="3842886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GB" sz="1600" dirty="0">
                <a:latin typeface="Segoe UI" panose="020B0502040204020203" pitchFamily="34" charset="0"/>
                <a:cs typeface="Segoe UI" panose="020B0502040204020203" pitchFamily="34" charset="0"/>
              </a:rPr>
              <a:t>Extracting pain points from 1-star reviews via </a:t>
            </a:r>
            <a:r>
              <a:rPr lang="en-GB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NLP topic </a:t>
            </a:r>
            <a:r>
              <a:rPr lang="en-GB" sz="16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modeling</a:t>
            </a:r>
            <a:r>
              <a:rPr lang="en-GB" sz="16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n-US" sz="17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280190" y="5465683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6507004" y="5692497"/>
            <a:ext cx="31933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GB" sz="2200" b="1" dirty="0">
                <a:solidFill>
                  <a:srgbClr val="124E7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Trend Forecasting</a:t>
            </a:r>
            <a:endParaRPr lang="en-US" sz="2200" b="1" dirty="0">
              <a:solidFill>
                <a:srgbClr val="124E7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507004" y="6119157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GB" sz="1600" dirty="0">
                <a:latin typeface="Segoe UI" panose="020B0502040204020203" pitchFamily="34" charset="0"/>
                <a:cs typeface="Segoe UI" panose="020B0502040204020203" pitchFamily="34" charset="0"/>
              </a:rPr>
              <a:t>Predicting future demand patterns using </a:t>
            </a:r>
            <a:r>
              <a:rPr lang="en-GB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SARIMAX </a:t>
            </a:r>
            <a:r>
              <a:rPr lang="en-GB" sz="1600" dirty="0">
                <a:latin typeface="Segoe UI" panose="020B0502040204020203" pitchFamily="34" charset="0"/>
                <a:cs typeface="Segoe UI" panose="020B0502040204020203" pitchFamily="34" charset="0"/>
              </a:rPr>
              <a:t>methodologies</a:t>
            </a:r>
            <a:endParaRPr lang="en-US" sz="17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333143"/>
            <a:ext cx="1968937" cy="426244"/>
          </a:xfrm>
          <a:prstGeom prst="roundRect">
            <a:avLst>
              <a:gd name="adj" fmla="val 6386"/>
            </a:avLst>
          </a:prstGeom>
          <a:solidFill>
            <a:srgbClr val="DBE8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929878" y="1401128"/>
            <a:ext cx="169676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DIAGNOSTIC ANALYSIS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850112"/>
            <a:ext cx="813280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24E73"/>
                </a:solidFill>
                <a:latin typeface="Rockwell Extra Bold" panose="02060903040505020403" pitchFamily="18" charset="0"/>
                <a:ea typeface="MuseoModerno Medium" pitchFamily="34" charset="-122"/>
                <a:cs typeface="MuseoModerno Medium" pitchFamily="34" charset="-120"/>
              </a:rPr>
              <a:t>RFM Customer Segmentation</a:t>
            </a:r>
            <a:endParaRPr lang="en-US" sz="4450" b="1" dirty="0">
              <a:latin typeface="Rockwell Extra Bold" panose="02060903040505020403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559981" y="31258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24E73"/>
                </a:solidFill>
                <a:latin typeface="Segoe UI" panose="020B0502040204020203" pitchFamily="34" charset="0"/>
                <a:ea typeface="MuseoModerno Medium" pitchFamily="34" charset="-122"/>
                <a:cs typeface="Segoe UI" panose="020B0502040204020203" pitchFamily="34" charset="0"/>
              </a:rPr>
              <a:t>Strategic Diagnosis</a:t>
            </a:r>
            <a:endParaRPr lang="en-US" sz="2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559981" y="3707011"/>
            <a:ext cx="828413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A critically low Platinum retention rate of </a:t>
            </a:r>
            <a:r>
              <a:rPr lang="en-US" sz="1750" b="1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0.8%</a:t>
            </a:r>
            <a:r>
              <a:rPr lang="en-US" sz="175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 prompted deployment of RFM modeling to diagnose customer loyalty patterns and quantify churn risk across the full buyer base.</a:t>
            </a:r>
            <a:endParaRPr lang="en-US" sz="17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559981" y="5022533"/>
            <a:ext cx="29745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24E73"/>
                </a:solidFill>
                <a:latin typeface="Segoe UI" panose="020B0502040204020203" pitchFamily="34" charset="0"/>
                <a:ea typeface="MuseoModerno Medium" pitchFamily="34" charset="-122"/>
                <a:cs typeface="Segoe UI" panose="020B0502040204020203" pitchFamily="34" charset="0"/>
              </a:rPr>
              <a:t>Scoring Methodology</a:t>
            </a:r>
            <a:endParaRPr lang="en-US" sz="2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559981" y="5603677"/>
            <a:ext cx="828413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Raw transaction data was standardized into a </a:t>
            </a:r>
            <a:r>
              <a:rPr lang="en-US" sz="1750" b="1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1–4 scale</a:t>
            </a:r>
            <a:r>
              <a:rPr lang="en-US" sz="175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 using statistical quartiles. Recency was scored </a:t>
            </a:r>
            <a:r>
              <a:rPr lang="en-US" sz="1750" b="1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inversely</a:t>
            </a:r>
            <a:r>
              <a:rPr lang="en-US" sz="175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 — rewarding recent activity — to surface the most engaged, highest-value customers.</a:t>
            </a:r>
            <a:endParaRPr lang="en-US" sz="17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85608F4-BA0C-893E-D81B-4265A66D7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125867"/>
            <a:ext cx="4341950" cy="32937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833672E-7DC3-C143-4CD9-48DF201E2108}"/>
              </a:ext>
            </a:extLst>
          </p:cNvPr>
          <p:cNvSpPr txBox="1"/>
          <p:nvPr/>
        </p:nvSpPr>
        <p:spPr>
          <a:xfrm>
            <a:off x="929878" y="6419638"/>
            <a:ext cx="41250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>
                <a:latin typeface="Segoe UI" panose="020B0502040204020203" pitchFamily="34" charset="0"/>
                <a:cs typeface="Segoe UI" panose="020B0502040204020203" pitchFamily="34" charset="0"/>
              </a:rPr>
              <a:t>*Note: RFM scores of 3-4 were not observed in this dataset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464945"/>
            <a:ext cx="1903333" cy="426244"/>
          </a:xfrm>
          <a:prstGeom prst="roundRect">
            <a:avLst>
              <a:gd name="adj" fmla="val 6386"/>
            </a:avLst>
          </a:prstGeom>
          <a:solidFill>
            <a:srgbClr val="DBE8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929878" y="1532930"/>
            <a:ext cx="163115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ENGAGEMENT TREND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981914"/>
            <a:ext cx="106200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Rockwell Extra Bold" panose="02060903040505020403" pitchFamily="18" charset="0"/>
                <a:ea typeface="MuseoModerno Medium" pitchFamily="34" charset="-122"/>
                <a:cs typeface="MuseoModerno Medium" pitchFamily="34" charset="-120"/>
              </a:rPr>
              <a:t>Customer Engagement &amp; Quality Trend</a:t>
            </a:r>
            <a:endParaRPr lang="en-US" sz="4450" dirty="0">
              <a:latin typeface="Rockwell Extra Bold" panose="020609030405050204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3257669"/>
            <a:ext cx="35574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24E73"/>
                </a:solidFill>
                <a:latin typeface="Segoe UI" panose="020B0502040204020203" pitchFamily="34" charset="0"/>
                <a:ea typeface="MuseoModerno Medium" pitchFamily="34" charset="-122"/>
                <a:cs typeface="Segoe UI" panose="020B0502040204020203" pitchFamily="34" charset="0"/>
              </a:rPr>
              <a:t>Stable Acquisition Quality</a:t>
            </a:r>
            <a:endParaRPr lang="en-US" sz="2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1" y="3838813"/>
            <a:ext cx="703511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Across </a:t>
            </a:r>
            <a:r>
              <a:rPr lang="en-US" sz="1750" b="1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18+ months</a:t>
            </a:r>
            <a:r>
              <a:rPr lang="en-US" sz="175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, the Average RFM Score held remarkably steady between </a:t>
            </a:r>
            <a:r>
              <a:rPr lang="en-US" sz="1750" b="1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7.50 and 7.57</a:t>
            </a:r>
            <a:r>
              <a:rPr lang="en-US" sz="175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 — demonstrating that Olist successfully scaled order volume without diluting customer quality.</a:t>
            </a:r>
            <a:endParaRPr lang="en-US" sz="17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93791" y="5182672"/>
            <a:ext cx="7035118" cy="1326713"/>
          </a:xfrm>
          <a:prstGeom prst="roundRect">
            <a:avLst>
              <a:gd name="adj" fmla="val 2565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5511522"/>
            <a:ext cx="283488" cy="22681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30907" y="5466159"/>
            <a:ext cx="59075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egoe UI" panose="020B0502040204020203" pitchFamily="34" charset="0"/>
              </a:rPr>
              <a:t>Consistent RFM scores during rapid growth signal disciplined acquisition and a healthy underlying customer base.</a:t>
            </a:r>
            <a:endParaRPr lang="en-US" sz="17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722" y="3257668"/>
            <a:ext cx="5940068" cy="32517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514594"/>
            <a:ext cx="2343983" cy="426244"/>
          </a:xfrm>
          <a:prstGeom prst="roundRect">
            <a:avLst>
              <a:gd name="adj" fmla="val 6386"/>
            </a:avLst>
          </a:prstGeom>
          <a:solidFill>
            <a:srgbClr val="DBE8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929878" y="1582579"/>
            <a:ext cx="207180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ADVANCED SEGMENTATION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031563"/>
            <a:ext cx="94538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Rockwell Extra Bold" panose="02060903040505020403" pitchFamily="18" charset="0"/>
                <a:ea typeface="MuseoModerno Medium" pitchFamily="34" charset="-122"/>
                <a:cs typeface="MuseoModerno Medium" pitchFamily="34" charset="-120"/>
              </a:rPr>
              <a:t>K-Means Clustering: Methodology</a:t>
            </a:r>
            <a:endParaRPr lang="en-US" sz="4450" dirty="0">
              <a:latin typeface="Rockwell Extra Bold" panose="02060903040505020403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87" y="3307317"/>
            <a:ext cx="4773693" cy="32036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00107" y="3307318"/>
            <a:ext cx="29708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24E73"/>
                </a:solidFill>
                <a:latin typeface="Segoe UI" panose="020B0502040204020203" pitchFamily="34" charset="0"/>
                <a:ea typeface="MuseoModerno Medium" pitchFamily="34" charset="-122"/>
                <a:cs typeface="Segoe UI" panose="020B0502040204020203" pitchFamily="34" charset="0"/>
              </a:rPr>
              <a:t>Robust Preprocessing</a:t>
            </a:r>
            <a:endParaRPr lang="en-US" sz="2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000108" y="3888462"/>
            <a:ext cx="784400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Log Transformation</a:t>
            </a:r>
            <a:r>
              <a:rPr lang="en-US" sz="175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 was applied to mitigate monetary skewness, while </a:t>
            </a:r>
            <a:r>
              <a:rPr lang="en-US" sz="1750" b="1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Standardization</a:t>
            </a:r>
            <a:r>
              <a:rPr lang="en-US" sz="175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 harmonized disparate RFM scales — ensuring unbiased distance calculations for the K-Means algorithm.</a:t>
            </a:r>
            <a:endParaRPr lang="en-US" sz="17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000107" y="5203984"/>
            <a:ext cx="33288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24E73"/>
                </a:solidFill>
                <a:latin typeface="Segoe UI" panose="020B0502040204020203" pitchFamily="34" charset="0"/>
                <a:ea typeface="MuseoModerno Medium" pitchFamily="34" charset="-122"/>
                <a:cs typeface="Segoe UI" panose="020B0502040204020203" pitchFamily="34" charset="0"/>
              </a:rPr>
              <a:t>Optimal Cluster Selection</a:t>
            </a:r>
            <a:endParaRPr lang="en-US" sz="2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000108" y="5785128"/>
            <a:ext cx="784400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The </a:t>
            </a:r>
            <a:r>
              <a:rPr lang="en-US" sz="1750" b="1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Elbow Method</a:t>
            </a:r>
            <a:r>
              <a:rPr lang="en-US" sz="175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 identified </a:t>
            </a:r>
            <a:r>
              <a:rPr lang="en-US" sz="1750" b="1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K=4</a:t>
            </a:r>
            <a:r>
              <a:rPr lang="en-US" sz="175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 as optimal, achieving the best trade-off between model complexity and within-cluster sum of squares (WCSS) reduction.</a:t>
            </a:r>
            <a:endParaRPr lang="en-US" sz="17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3EEE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6280190" y="678180"/>
            <a:ext cx="1114544" cy="370642"/>
          </a:xfrm>
          <a:prstGeom prst="roundRect">
            <a:avLst>
              <a:gd name="adj" fmla="val 6609"/>
            </a:avLst>
          </a:prstGeom>
          <a:solidFill>
            <a:srgbClr val="DBE8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6402586" y="739378"/>
            <a:ext cx="869752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FINDING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280190" y="1122283"/>
            <a:ext cx="7556421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124E73"/>
                </a:solidFill>
                <a:latin typeface="Rockwell Extra Bold" panose="02060903040505020403" pitchFamily="18" charset="0"/>
                <a:ea typeface="MuseoModerno Medium" pitchFamily="34" charset="-122"/>
                <a:cs typeface="MuseoModerno Medium" pitchFamily="34" charset="-120"/>
              </a:rPr>
              <a:t>The "Leaky Bucket" Phenomenon</a:t>
            </a:r>
            <a:endParaRPr lang="en-US" sz="4000" b="1" dirty="0">
              <a:latin typeface="Rockwell Extra Bold" panose="02060903040505020403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280190" y="2673668"/>
            <a:ext cx="7556421" cy="1503402"/>
          </a:xfrm>
          <a:prstGeom prst="roundRect">
            <a:avLst>
              <a:gd name="adj" fmla="val 7299"/>
            </a:avLst>
          </a:prstGeom>
          <a:solidFill>
            <a:srgbClr val="FFFCF5"/>
          </a:solidFill>
          <a:ln w="22860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6257330" y="2673668"/>
            <a:ext cx="91440" cy="1503402"/>
          </a:xfrm>
          <a:prstGeom prst="roundRect">
            <a:avLst>
              <a:gd name="adj" fmla="val 33488"/>
            </a:avLst>
          </a:prstGeom>
          <a:solidFill>
            <a:srgbClr val="325F7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6575703" y="2900601"/>
            <a:ext cx="3437930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B4150"/>
                </a:solidFill>
                <a:latin typeface="Segoe UI" panose="020B0502040204020203" pitchFamily="34" charset="0"/>
                <a:ea typeface="MuseoModerno Medium" pitchFamily="34" charset="-122"/>
                <a:cs typeface="Segoe UI" panose="020B0502040204020203" pitchFamily="34" charset="0"/>
              </a:rPr>
              <a:t>New-Customer Dependence</a:t>
            </a:r>
            <a:endParaRPr lang="en-US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575703" y="3329583"/>
            <a:ext cx="7033974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Growth relies on continuous acquisition rather than repeat purchase — a structurally unsustainable model.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280190" y="4360783"/>
            <a:ext cx="7556421" cy="1503402"/>
          </a:xfrm>
          <a:prstGeom prst="roundRect">
            <a:avLst>
              <a:gd name="adj" fmla="val 7299"/>
            </a:avLst>
          </a:prstGeom>
          <a:solidFill>
            <a:srgbClr val="FFFCF5"/>
          </a:solidFill>
          <a:ln w="22860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6257330" y="4360783"/>
            <a:ext cx="91440" cy="1503402"/>
          </a:xfrm>
          <a:prstGeom prst="roundRect">
            <a:avLst>
              <a:gd name="adj" fmla="val 33488"/>
            </a:avLst>
          </a:prstGeom>
          <a:solidFill>
            <a:srgbClr val="325F7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6575703" y="4587716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B4150"/>
                </a:solidFill>
                <a:latin typeface="Segoe UI" panose="020B0502040204020203" pitchFamily="34" charset="0"/>
                <a:ea typeface="MuseoModerno Medium" pitchFamily="34" charset="-122"/>
                <a:cs typeface="Segoe UI" panose="020B0502040204020203" pitchFamily="34" charset="0"/>
              </a:rPr>
              <a:t>The Loyalty Paradox</a:t>
            </a:r>
            <a:endParaRPr lang="en-US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575703" y="5016698"/>
            <a:ext cx="7033974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High-value spenders (Cluster 1) are not being retained, creating a revenue leak that offsets acquisition gains.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280190" y="6047899"/>
            <a:ext cx="7556421" cy="1657720"/>
          </a:xfrm>
          <a:prstGeom prst="roundRect">
            <a:avLst>
              <a:gd name="adj" fmla="val 7299"/>
            </a:avLst>
          </a:prstGeom>
          <a:solidFill>
            <a:srgbClr val="FFFCF5"/>
          </a:solidFill>
          <a:ln w="22860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6257330" y="6047899"/>
            <a:ext cx="91440" cy="1503402"/>
          </a:xfrm>
          <a:prstGeom prst="roundRect">
            <a:avLst>
              <a:gd name="adj" fmla="val 33488"/>
            </a:avLst>
          </a:prstGeom>
          <a:solidFill>
            <a:srgbClr val="325F7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6575703" y="6274832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B4150"/>
                </a:solidFill>
                <a:latin typeface="Segoe UI" panose="020B0502040204020203" pitchFamily="34" charset="0"/>
                <a:ea typeface="MuseoModerno Medium" pitchFamily="34" charset="-122"/>
                <a:cs typeface="Segoe UI" panose="020B0502040204020203" pitchFamily="34" charset="0"/>
              </a:rPr>
              <a:t>Strategic Priority</a:t>
            </a:r>
            <a:endParaRPr lang="en-US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575703" y="6703813"/>
            <a:ext cx="7033974" cy="847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Fixing the post-purchase experience for Cluster 1 high-spenders is the fastest path to transforming transactional cycles into a </a:t>
            </a:r>
            <a:r>
              <a:rPr lang="en-US" sz="1600" b="1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sustainable loyalty ecosystem</a:t>
            </a:r>
            <a:r>
              <a:rPr lang="en-US" sz="160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.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AECFF89-03BA-042E-AFCB-A821DCB27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4147" y="523981"/>
            <a:ext cx="1782464" cy="196597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0475A64-0E88-FA8C-BA17-416A398DE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591" y="1846185"/>
            <a:ext cx="5019217" cy="45372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9">
            <a:extLst>
              <a:ext uri="{FF2B5EF4-FFF2-40B4-BE49-F238E27FC236}">
                <a16:creationId xmlns:a16="http://schemas.microsoft.com/office/drawing/2014/main" id="{37137C27-19B6-98EF-F2B5-E5B782C53E9B}"/>
              </a:ext>
            </a:extLst>
          </p:cNvPr>
          <p:cNvSpPr/>
          <p:nvPr/>
        </p:nvSpPr>
        <p:spPr>
          <a:xfrm>
            <a:off x="770930" y="5988606"/>
            <a:ext cx="6021022" cy="1542042"/>
          </a:xfrm>
          <a:prstGeom prst="roundRect">
            <a:avLst>
              <a:gd name="adj" fmla="val 7902"/>
            </a:avLst>
          </a:prstGeom>
          <a:solidFill>
            <a:srgbClr val="FFFCF5"/>
          </a:solidFill>
          <a:ln w="22860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9"/>
          <p:cNvSpPr/>
          <p:nvPr/>
        </p:nvSpPr>
        <p:spPr>
          <a:xfrm>
            <a:off x="793790" y="2665848"/>
            <a:ext cx="5998161" cy="2872484"/>
          </a:xfrm>
          <a:prstGeom prst="roundRect">
            <a:avLst>
              <a:gd name="adj" fmla="val 7902"/>
            </a:avLst>
          </a:prstGeom>
          <a:solidFill>
            <a:srgbClr val="FFFCF5"/>
          </a:solidFill>
          <a:ln w="22860">
            <a:solidFill>
              <a:srgbClr val="D9D4C9"/>
            </a:solidFill>
            <a:prstDash val="solid"/>
          </a:ln>
        </p:spPr>
        <p:txBody>
          <a:bodyPr/>
          <a:lstStyle/>
          <a:p>
            <a:r>
              <a:rPr lang="en-US" b="1" dirty="0">
                <a:latin typeface="Segoe UI" panose="020B0502040204020203" pitchFamily="34" charset="0"/>
                <a:ea typeface="MuseoModerno Medium" pitchFamily="34" charset="-122"/>
                <a:cs typeface="Segoe UI" panose="020B0502040204020203" pitchFamily="34" charset="0"/>
              </a:rPr>
              <a:t>  Automated </a:t>
            </a:r>
            <a:r>
              <a:rPr lang="en-US" sz="1750" b="1" dirty="0">
                <a:latin typeface="Segoe UI" panose="020B0502040204020203" pitchFamily="34" charset="0"/>
                <a:ea typeface="MuseoModerno Medium" pitchFamily="34" charset="-122"/>
                <a:cs typeface="Segoe UI" panose="020B0502040204020203" pitchFamily="34" charset="0"/>
              </a:rPr>
              <a:t>Win-Back System (Recency based)</a:t>
            </a:r>
            <a:endParaRPr lang="en-GB" sz="1750" dirty="0"/>
          </a:p>
        </p:txBody>
      </p:sp>
      <p:sp>
        <p:nvSpPr>
          <p:cNvPr id="4" name="Shape 0"/>
          <p:cNvSpPr/>
          <p:nvPr/>
        </p:nvSpPr>
        <p:spPr>
          <a:xfrm>
            <a:off x="793790" y="852249"/>
            <a:ext cx="1722358" cy="317778"/>
          </a:xfrm>
          <a:prstGeom prst="roundRect">
            <a:avLst>
              <a:gd name="adj" fmla="val 6852"/>
            </a:avLst>
          </a:prstGeom>
          <a:solidFill>
            <a:srgbClr val="DBE8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1"/>
          <p:cNvSpPr/>
          <p:nvPr/>
        </p:nvSpPr>
        <p:spPr>
          <a:xfrm>
            <a:off x="902613" y="906661"/>
            <a:ext cx="1504712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DIAGNOSTIC SOLUTIONS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93790" y="1228011"/>
            <a:ext cx="8115924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24E73"/>
                </a:solidFill>
                <a:latin typeface="Rockwell Extra Bold" panose="02060903040505020403" pitchFamily="18" charset="0"/>
                <a:ea typeface="MuseoModerno Medium" pitchFamily="34" charset="-122"/>
                <a:cs typeface="MuseoModerno Medium" pitchFamily="34" charset="-120"/>
              </a:rPr>
              <a:t>Strategic Recommendations: Retention Interventions</a:t>
            </a:r>
            <a:endParaRPr lang="en-US" sz="3550" b="1" dirty="0">
              <a:latin typeface="Rockwell Extra Bold" panose="02060903040505020403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075209" y="3200224"/>
            <a:ext cx="3776543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B4150"/>
                </a:solidFill>
                <a:latin typeface="Segoe UI" panose="020B0502040204020203" pitchFamily="34" charset="0"/>
                <a:ea typeface="MuseoModerno Medium" pitchFamily="34" charset="-122"/>
                <a:cs typeface="Segoe UI" panose="020B0502040204020203" pitchFamily="34" charset="0"/>
              </a:rPr>
              <a:t>New User Program (Clusters 0 &amp; 2)</a:t>
            </a:r>
            <a:endParaRPr lang="en-US" sz="15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066681" y="3526375"/>
            <a:ext cx="707921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Introductory incentives and welcome bonuses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1075209" y="3853577"/>
            <a:ext cx="707921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Goal:</a:t>
            </a:r>
            <a:r>
              <a:rPr lang="en-US" sz="140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 Convert new customers into repeat buyers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1066681" y="4360645"/>
            <a:ext cx="338208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B4150"/>
                </a:solidFill>
                <a:latin typeface="Segoe UI" panose="020B0502040204020203" pitchFamily="34" charset="0"/>
                <a:ea typeface="MuseoModerno Medium" pitchFamily="34" charset="-122"/>
                <a:cs typeface="Segoe UI" panose="020B0502040204020203" pitchFamily="34" charset="0"/>
              </a:rPr>
              <a:t>Stable Core Program (Cluster 3)</a:t>
            </a:r>
            <a:endParaRPr lang="en-US" sz="15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1066681" y="4697234"/>
            <a:ext cx="707921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Exclusive retention programs and loyalty benefits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1066681" y="5001120"/>
            <a:ext cx="707921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Goal:</a:t>
            </a:r>
            <a:r>
              <a:rPr lang="en-US" sz="140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 Maintain high-value customer engagement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770930" y="5988606"/>
            <a:ext cx="89068" cy="1542042"/>
          </a:xfrm>
          <a:prstGeom prst="roundRect">
            <a:avLst>
              <a:gd name="adj" fmla="val 29767"/>
            </a:avLst>
          </a:prstGeom>
          <a:solidFill>
            <a:srgbClr val="325F7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6"/>
          <p:cNvSpPr/>
          <p:nvPr/>
        </p:nvSpPr>
        <p:spPr>
          <a:xfrm>
            <a:off x="1075209" y="6292492"/>
            <a:ext cx="3666887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B4150"/>
                </a:solidFill>
                <a:latin typeface="Segoe UI" panose="020B0502040204020203" pitchFamily="34" charset="0"/>
                <a:ea typeface="MuseoModerno Medium" pitchFamily="34" charset="-122"/>
                <a:cs typeface="Segoe UI" panose="020B0502040204020203" pitchFamily="34" charset="0"/>
              </a:rPr>
              <a:t>Platinum Tier Program (Top 0.8%)</a:t>
            </a:r>
            <a:endParaRPr lang="en-US" sz="175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1075209" y="6557927"/>
            <a:ext cx="707921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Premium benefits: free shipping, priority support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1075209" y="6819151"/>
            <a:ext cx="707921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Goal:</a:t>
            </a:r>
            <a:r>
              <a:rPr lang="en-US" sz="140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 Stabilize most profitable segment and maximize lifetime value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D7FAF8-AC46-E3A5-D41B-3302DC0C002F}"/>
              </a:ext>
            </a:extLst>
          </p:cNvPr>
          <p:cNvSpPr/>
          <p:nvPr/>
        </p:nvSpPr>
        <p:spPr>
          <a:xfrm>
            <a:off x="8787161" y="-9407"/>
            <a:ext cx="5819601" cy="8229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9714" y="1389101"/>
            <a:ext cx="5304949" cy="5304949"/>
          </a:xfrm>
          <a:prstGeom prst="rect">
            <a:avLst/>
          </a:prstGeom>
        </p:spPr>
      </p:pic>
      <p:sp>
        <p:nvSpPr>
          <p:cNvPr id="25" name="Shape 15">
            <a:extLst>
              <a:ext uri="{FF2B5EF4-FFF2-40B4-BE49-F238E27FC236}">
                <a16:creationId xmlns:a16="http://schemas.microsoft.com/office/drawing/2014/main" id="{0A82FFE6-B843-A40E-EF75-18CF2CEEEEEA}"/>
              </a:ext>
            </a:extLst>
          </p:cNvPr>
          <p:cNvSpPr/>
          <p:nvPr/>
        </p:nvSpPr>
        <p:spPr>
          <a:xfrm>
            <a:off x="788812" y="2665847"/>
            <a:ext cx="71186" cy="2861649"/>
          </a:xfrm>
          <a:prstGeom prst="roundRect">
            <a:avLst>
              <a:gd name="adj" fmla="val 29767"/>
            </a:avLst>
          </a:prstGeom>
          <a:solidFill>
            <a:srgbClr val="325F7B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50081"/>
            <a:ext cx="5615940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124E73"/>
                </a:solidFill>
                <a:latin typeface="Rockwell Extra Bold" panose="02060903040505020403" pitchFamily="18" charset="0"/>
                <a:ea typeface="MuseoModerno Medium" pitchFamily="34" charset="-122"/>
                <a:cs typeface="MuseoModerno Medium" pitchFamily="34" charset="-120"/>
              </a:rPr>
              <a:t>NLP Sentiment Analysis</a:t>
            </a:r>
            <a:endParaRPr lang="en-US" sz="3750" b="1" dirty="0">
              <a:latin typeface="Rockwell Extra Bold" panose="02060903040505020403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1498283"/>
            <a:ext cx="790110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Processing 1-star reviews to uncover root causes of dissatisfaction with a complete workflow</a:t>
            </a:r>
            <a:endParaRPr lang="en-US" sz="15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10046970" y="1967865"/>
            <a:ext cx="22860" cy="5611654"/>
          </a:xfrm>
          <a:prstGeom prst="roundRect">
            <a:avLst>
              <a:gd name="adj" fmla="val 126512"/>
            </a:avLst>
          </a:prstGeom>
          <a:solidFill>
            <a:srgbClr val="D9D4C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9695736" y="2173248"/>
            <a:ext cx="385524" cy="22860"/>
          </a:xfrm>
          <a:prstGeom prst="roundRect">
            <a:avLst>
              <a:gd name="adj" fmla="val 126512"/>
            </a:avLst>
          </a:prstGeom>
          <a:solidFill>
            <a:srgbClr val="D9D4C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9986129" y="2112407"/>
            <a:ext cx="144542" cy="144542"/>
          </a:xfrm>
          <a:prstGeom prst="roundRect">
            <a:avLst>
              <a:gd name="adj" fmla="val 316309"/>
            </a:avLst>
          </a:prstGeom>
          <a:solidFill>
            <a:srgbClr val="325F7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6877288" y="2034064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B4150"/>
                </a:solidFill>
                <a:latin typeface="Segoe UI" panose="020B0502040204020203" pitchFamily="34" charset="0"/>
                <a:ea typeface="MuseoModerno Medium" pitchFamily="34" charset="-122"/>
                <a:cs typeface="Segoe UI" panose="020B0502040204020203" pitchFamily="34" charset="0"/>
              </a:rPr>
              <a:t>Text Preprocessing</a:t>
            </a:r>
            <a:endParaRPr lang="en-US" sz="185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280190" y="2433518"/>
            <a:ext cx="3007043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50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Remove URL, punctuation, numbers, nonsensical text. Convert emoticon to text, remove stop words, freq, rare words, stem word, lemmatize word.</a:t>
            </a:r>
            <a:endParaRPr lang="en-US" sz="15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0035540" y="3272076"/>
            <a:ext cx="385524" cy="22860"/>
          </a:xfrm>
          <a:prstGeom prst="roundRect">
            <a:avLst>
              <a:gd name="adj" fmla="val 126512"/>
            </a:avLst>
          </a:prstGeom>
          <a:solidFill>
            <a:srgbClr val="D9D4C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9986129" y="3211235"/>
            <a:ext cx="144542" cy="144542"/>
          </a:xfrm>
          <a:prstGeom prst="roundRect">
            <a:avLst>
              <a:gd name="adj" fmla="val 316309"/>
            </a:avLst>
          </a:prstGeom>
          <a:solidFill>
            <a:srgbClr val="325F7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10829568" y="3132892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B4150"/>
                </a:solidFill>
                <a:latin typeface="Segoe UI" panose="020B0502040204020203" pitchFamily="34" charset="0"/>
                <a:ea typeface="MuseoModerno Medium" pitchFamily="34" charset="-122"/>
                <a:cs typeface="Segoe UI" panose="020B0502040204020203" pitchFamily="34" charset="0"/>
              </a:rPr>
              <a:t>Neural Translation</a:t>
            </a:r>
            <a:endParaRPr lang="en-US" sz="185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829568" y="3532346"/>
            <a:ext cx="3007043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NLLB-200 (Facebook) converting Portuguese to English.</a:t>
            </a:r>
            <a:endParaRPr lang="en-US" sz="15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9695736" y="4240173"/>
            <a:ext cx="385524" cy="22860"/>
          </a:xfrm>
          <a:prstGeom prst="roundRect">
            <a:avLst>
              <a:gd name="adj" fmla="val 126512"/>
            </a:avLst>
          </a:prstGeom>
          <a:solidFill>
            <a:srgbClr val="D9D4C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9986129" y="4179332"/>
            <a:ext cx="144542" cy="144542"/>
          </a:xfrm>
          <a:prstGeom prst="roundRect">
            <a:avLst>
              <a:gd name="adj" fmla="val 316309"/>
            </a:avLst>
          </a:prstGeom>
          <a:solidFill>
            <a:srgbClr val="325F7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6877288" y="4100989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B4150"/>
                </a:solidFill>
                <a:latin typeface="Segoe UI" panose="020B0502040204020203" pitchFamily="34" charset="0"/>
                <a:ea typeface="MuseoModerno Medium" pitchFamily="34" charset="-122"/>
                <a:cs typeface="Segoe UI" panose="020B0502040204020203" pitchFamily="34" charset="0"/>
              </a:rPr>
              <a:t>Quality Audit</a:t>
            </a:r>
            <a:endParaRPr lang="en-US" sz="185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280190" y="4500443"/>
            <a:ext cx="3007043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50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LaBSE evaluation: Score 0.657 (Semantic Similarity).</a:t>
            </a:r>
            <a:endParaRPr lang="en-US" sz="15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10035540" y="5208270"/>
            <a:ext cx="385524" cy="22860"/>
          </a:xfrm>
          <a:prstGeom prst="roundRect">
            <a:avLst>
              <a:gd name="adj" fmla="val 126512"/>
            </a:avLst>
          </a:prstGeom>
          <a:solidFill>
            <a:srgbClr val="D9D4C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9986129" y="5147429"/>
            <a:ext cx="144542" cy="144542"/>
          </a:xfrm>
          <a:prstGeom prst="roundRect">
            <a:avLst>
              <a:gd name="adj" fmla="val 316309"/>
            </a:avLst>
          </a:prstGeom>
          <a:solidFill>
            <a:srgbClr val="325F7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10829568" y="5069086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B4150"/>
                </a:solidFill>
                <a:latin typeface="Segoe UI" panose="020B0502040204020203" pitchFamily="34" charset="0"/>
                <a:ea typeface="MuseoModerno Medium" pitchFamily="34" charset="-122"/>
                <a:cs typeface="Segoe UI" panose="020B0502040204020203" pitchFamily="34" charset="0"/>
              </a:rPr>
              <a:t>Topic Discovery</a:t>
            </a:r>
            <a:endParaRPr lang="en-US" sz="185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0829568" y="5468541"/>
            <a:ext cx="3007043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BERTopic on 9,869 1-star reviews distilled to 4 Critical Themes (5,619 reviews).</a:t>
            </a:r>
            <a:endParaRPr lang="en-US" sz="15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9695736" y="6176367"/>
            <a:ext cx="385524" cy="22860"/>
          </a:xfrm>
          <a:prstGeom prst="roundRect">
            <a:avLst>
              <a:gd name="adj" fmla="val 126512"/>
            </a:avLst>
          </a:prstGeom>
          <a:solidFill>
            <a:srgbClr val="D9D4C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9986129" y="6115526"/>
            <a:ext cx="144542" cy="144542"/>
          </a:xfrm>
          <a:prstGeom prst="roundRect">
            <a:avLst>
              <a:gd name="adj" fmla="val 316309"/>
            </a:avLst>
          </a:prstGeom>
          <a:solidFill>
            <a:srgbClr val="325F7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6692860" y="6037183"/>
            <a:ext cx="2594372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B4150"/>
                </a:solidFill>
                <a:latin typeface="Segoe UI" panose="020B0502040204020203" pitchFamily="34" charset="0"/>
                <a:ea typeface="MuseoModerno Medium" pitchFamily="34" charset="-122"/>
                <a:cs typeface="Segoe UI" panose="020B0502040204020203" pitchFamily="34" charset="0"/>
              </a:rPr>
              <a:t>Advanced Refinement</a:t>
            </a:r>
            <a:endParaRPr lang="en-US" sz="18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280190" y="6436638"/>
            <a:ext cx="3007043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50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CountVectorizer for phrase capture KeyBERTInspired for topic refinement</a:t>
            </a:r>
            <a:endParaRPr lang="en-US" sz="15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407" y="614005"/>
            <a:ext cx="2102763" cy="417314"/>
          </a:xfrm>
          <a:prstGeom prst="roundRect">
            <a:avLst>
              <a:gd name="adj" fmla="val 6421"/>
            </a:avLst>
          </a:prstGeom>
          <a:solidFill>
            <a:srgbClr val="DBE8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915353" y="680918"/>
            <a:ext cx="1834872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ROOT CAUSE DIAGNOSIS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81407" y="1119187"/>
            <a:ext cx="9088160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124E73"/>
                </a:solidFill>
                <a:latin typeface="Rockwell Extra Bold" panose="02060903040505020403" pitchFamily="18" charset="0"/>
                <a:ea typeface="MuseoModerno Medium" pitchFamily="34" charset="-122"/>
                <a:cs typeface="MuseoModerno Medium" pitchFamily="34" charset="-120"/>
              </a:rPr>
              <a:t>4 Customer Pain Points Identified</a:t>
            </a:r>
            <a:endParaRPr lang="en-US" sz="4350" dirty="0">
              <a:latin typeface="Rockwell Extra Bold" panose="020609030405050204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81407" y="2146578"/>
            <a:ext cx="13067586" cy="5391388"/>
          </a:xfrm>
          <a:prstGeom prst="roundRect">
            <a:avLst>
              <a:gd name="adj" fmla="val 62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789027" y="2154198"/>
            <a:ext cx="13052346" cy="63317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321362" y="2293620"/>
            <a:ext cx="21563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Topic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4931807" y="2293620"/>
            <a:ext cx="41142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Terms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9500116" y="2293620"/>
            <a:ext cx="41180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Representative Feedback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89027" y="2787372"/>
            <a:ext cx="13052346" cy="113371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388" y="2926794"/>
            <a:ext cx="854869" cy="85486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321362" y="2926794"/>
            <a:ext cx="21563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Fulfillment &amp; Returns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4931807" y="2926794"/>
            <a:ext cx="41142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return, receive, cancel…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9500116" y="2926794"/>
            <a:ext cx="41180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"I bought two products, only received one… still got no response."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789027" y="3921085"/>
            <a:ext cx="13052346" cy="113371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388" y="4060508"/>
            <a:ext cx="854869" cy="85486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321362" y="4060508"/>
            <a:ext cx="21563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 Anxiety</a:t>
            </a:r>
            <a:endParaRPr lang="en-US" sz="1750" dirty="0"/>
          </a:p>
        </p:txBody>
      </p:sp>
      <p:sp>
        <p:nvSpPr>
          <p:cNvPr id="19" name="Text 15"/>
          <p:cNvSpPr/>
          <p:nvPr/>
        </p:nvSpPr>
        <p:spPr>
          <a:xfrm>
            <a:off x="4931807" y="4060508"/>
            <a:ext cx="41142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still waiting, am waiting…</a:t>
            </a:r>
            <a:endParaRPr lang="en-US" sz="1750" dirty="0"/>
          </a:p>
        </p:txBody>
      </p:sp>
      <p:sp>
        <p:nvSpPr>
          <p:cNvPr id="20" name="Text 16"/>
          <p:cNvSpPr/>
          <p:nvPr/>
        </p:nvSpPr>
        <p:spPr>
          <a:xfrm>
            <a:off x="9500116" y="4060508"/>
            <a:ext cx="41180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"I'm still waiting for you. Still waiting for you."</a:t>
            </a:r>
            <a:endParaRPr lang="en-US" sz="1750" dirty="0"/>
          </a:p>
        </p:txBody>
      </p:sp>
      <p:sp>
        <p:nvSpPr>
          <p:cNvPr id="21" name="Shape 17"/>
          <p:cNvSpPr/>
          <p:nvPr/>
        </p:nvSpPr>
        <p:spPr>
          <a:xfrm>
            <a:off x="789027" y="5054798"/>
            <a:ext cx="13052346" cy="113371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388" y="5194221"/>
            <a:ext cx="854869" cy="85486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321362" y="5194221"/>
            <a:ext cx="21563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Product Specification</a:t>
            </a:r>
            <a:endParaRPr lang="en-US" sz="1750" dirty="0"/>
          </a:p>
        </p:txBody>
      </p:sp>
      <p:sp>
        <p:nvSpPr>
          <p:cNvPr id="24" name="Text 19"/>
          <p:cNvSpPr/>
          <p:nvPr/>
        </p:nvSpPr>
        <p:spPr>
          <a:xfrm>
            <a:off x="4931807" y="5194221"/>
            <a:ext cx="41142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meter, height, centimeter…</a:t>
            </a:r>
            <a:endParaRPr lang="en-US" sz="1750" dirty="0"/>
          </a:p>
        </p:txBody>
      </p:sp>
      <p:sp>
        <p:nvSpPr>
          <p:cNvPr id="25" name="Text 20"/>
          <p:cNvSpPr/>
          <p:nvPr/>
        </p:nvSpPr>
        <p:spPr>
          <a:xfrm>
            <a:off x="9500116" y="5194221"/>
            <a:ext cx="41180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"The ad says height is about a centimeter but you receive less."</a:t>
            </a:r>
            <a:endParaRPr lang="en-US" sz="1750" dirty="0"/>
          </a:p>
        </p:txBody>
      </p:sp>
      <p:sp>
        <p:nvSpPr>
          <p:cNvPr id="26" name="Shape 21"/>
          <p:cNvSpPr/>
          <p:nvPr/>
        </p:nvSpPr>
        <p:spPr>
          <a:xfrm>
            <a:off x="789027" y="6188512"/>
            <a:ext cx="13052346" cy="13418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388" y="6327934"/>
            <a:ext cx="854869" cy="854869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321362" y="6327934"/>
            <a:ext cx="21563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Installation Issues</a:t>
            </a:r>
            <a:endParaRPr lang="en-US" sz="1750" dirty="0"/>
          </a:p>
        </p:txBody>
      </p:sp>
      <p:sp>
        <p:nvSpPr>
          <p:cNvPr id="29" name="Text 23"/>
          <p:cNvSpPr/>
          <p:nvPr/>
        </p:nvSpPr>
        <p:spPr>
          <a:xfrm>
            <a:off x="4931807" y="6327934"/>
            <a:ext cx="41142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installation, operation, manual…</a:t>
            </a:r>
            <a:endParaRPr lang="en-US" sz="1750" dirty="0"/>
          </a:p>
        </p:txBody>
      </p:sp>
      <p:sp>
        <p:nvSpPr>
          <p:cNvPr id="30" name="Text 24"/>
          <p:cNvSpPr/>
          <p:nvPr/>
        </p:nvSpPr>
        <p:spPr>
          <a:xfrm>
            <a:off x="9500116" y="6327934"/>
            <a:ext cx="4118015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"It is only possible to install without manual… necessary to contact manufacturer."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23768"/>
            <a:ext cx="1394222" cy="244078"/>
          </a:xfrm>
          <a:prstGeom prst="roundRect">
            <a:avLst>
              <a:gd name="adj" fmla="val 7249"/>
            </a:avLst>
          </a:prstGeom>
          <a:solidFill>
            <a:srgbClr val="DBE8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882134" y="667941"/>
            <a:ext cx="1217533" cy="155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STRATEGIC BREAKDOWN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3790" y="906066"/>
            <a:ext cx="6727388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124E73"/>
                </a:solidFill>
                <a:latin typeface="Rockwell Extra Bold" panose="02060903040505020403" pitchFamily="18" charset="0"/>
                <a:ea typeface="MuseoModerno Medium" pitchFamily="34" charset="-122"/>
                <a:cs typeface="MuseoModerno Medium" pitchFamily="34" charset="-120"/>
              </a:rPr>
              <a:t>Category-Level Pain Point Distribution</a:t>
            </a:r>
            <a:endParaRPr lang="en-US" sz="2900" b="1" dirty="0">
              <a:latin typeface="Rockwell Extra Bold" panose="020609030405050204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1510546"/>
            <a:ext cx="13042821" cy="627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2000" b="1" dirty="0">
                <a:solidFill>
                  <a:srgbClr val="124E73"/>
                </a:solidFill>
                <a:latin typeface="Segoe UI" panose="020B0502040204020203" pitchFamily="34" charset="0"/>
                <a:ea typeface="MuseoModerno Medium" pitchFamily="34" charset="-122"/>
                <a:cs typeface="Segoe UI" panose="020B0502040204020203" pitchFamily="34" charset="0"/>
              </a:rPr>
              <a:t>94% of all complaints are tied directly to Fulfillment and Returns</a:t>
            </a:r>
            <a:endParaRPr lang="en-US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7502604" y="5217081"/>
            <a:ext cx="634162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793790" y="5605582"/>
            <a:ext cx="3188851" cy="764396"/>
          </a:xfrm>
          <a:prstGeom prst="roundRect">
            <a:avLst>
              <a:gd name="adj" fmla="val 1300"/>
            </a:avLst>
          </a:prstGeom>
          <a:solidFill>
            <a:srgbClr val="FFFCF5"/>
          </a:solidFill>
          <a:ln w="15240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/>
          <p:nvPr/>
        </p:nvSpPr>
        <p:spPr>
          <a:xfrm>
            <a:off x="918977" y="5768221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2B4150"/>
                </a:solidFill>
                <a:latin typeface="Segoe UI" panose="020B0502040204020203" pitchFamily="34" charset="0"/>
                <a:ea typeface="MuseoModerno Medium" pitchFamily="34" charset="-122"/>
                <a:cs typeface="Segoe UI" panose="020B0502040204020203" pitchFamily="34" charset="0"/>
              </a:rPr>
              <a:t>Home &amp; Living</a:t>
            </a:r>
            <a:endParaRPr lang="en-US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918976" y="6055995"/>
            <a:ext cx="2959907" cy="252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i="1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Product Specification Discrepancies</a:t>
            </a:r>
            <a:endParaRPr lang="en-US" sz="16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4078367" y="5605582"/>
            <a:ext cx="3188970" cy="764396"/>
          </a:xfrm>
          <a:prstGeom prst="roundRect">
            <a:avLst>
              <a:gd name="adj" fmla="val 1300"/>
            </a:avLst>
          </a:prstGeom>
          <a:solidFill>
            <a:srgbClr val="FFFCF5"/>
          </a:solidFill>
          <a:ln w="15240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1"/>
          <p:cNvSpPr/>
          <p:nvPr/>
        </p:nvSpPr>
        <p:spPr>
          <a:xfrm>
            <a:off x="4157484" y="5755340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B4150"/>
                </a:solidFill>
                <a:latin typeface="Segoe UI" panose="020B0502040204020203" pitchFamily="34" charset="0"/>
                <a:ea typeface="MuseoModerno Medium" pitchFamily="34" charset="-122"/>
                <a:cs typeface="Segoe UI" panose="020B0502040204020203" pitchFamily="34" charset="0"/>
              </a:rPr>
              <a:t>Tech &amp; Gadgets</a:t>
            </a:r>
            <a:endParaRPr lang="en-US" sz="145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4157484" y="6055995"/>
            <a:ext cx="2863691" cy="187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Installation Issues (poor manuals)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793790" y="6457083"/>
            <a:ext cx="3188851" cy="764396"/>
          </a:xfrm>
          <a:prstGeom prst="roundRect">
            <a:avLst>
              <a:gd name="adj" fmla="val 1300"/>
            </a:avLst>
          </a:prstGeom>
          <a:solidFill>
            <a:srgbClr val="FFFCF5"/>
          </a:solidFill>
          <a:ln w="15240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6"/>
          <p:cNvSpPr/>
          <p:nvPr/>
        </p:nvSpPr>
        <p:spPr>
          <a:xfrm>
            <a:off x="918976" y="6532617"/>
            <a:ext cx="1806125" cy="272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B4150"/>
                </a:solidFill>
                <a:latin typeface="Segoe UI" panose="020B0502040204020203" pitchFamily="34" charset="0"/>
                <a:ea typeface="MuseoModerno Medium" pitchFamily="34" charset="-122"/>
                <a:cs typeface="Segoe UI" panose="020B0502040204020203" pitchFamily="34" charset="0"/>
              </a:rPr>
              <a:t>Media &amp; Essentials</a:t>
            </a:r>
            <a:endParaRPr lang="en-US" sz="145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918977" y="6872255"/>
            <a:ext cx="2827086" cy="29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Customer</a:t>
            </a:r>
            <a:r>
              <a:rPr lang="en-US" sz="16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Anxiety (poor tracking)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4078366" y="6438193"/>
            <a:ext cx="3188970" cy="764396"/>
          </a:xfrm>
          <a:prstGeom prst="roundRect">
            <a:avLst>
              <a:gd name="adj" fmla="val 1300"/>
            </a:avLst>
          </a:prstGeom>
          <a:solidFill>
            <a:srgbClr val="FFFCF5"/>
          </a:solidFill>
          <a:ln w="15240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1"/>
          <p:cNvSpPr/>
          <p:nvPr/>
        </p:nvSpPr>
        <p:spPr>
          <a:xfrm>
            <a:off x="4157484" y="6536692"/>
            <a:ext cx="1842968" cy="268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B4150"/>
                </a:solidFill>
                <a:latin typeface="Segoe UI" panose="020B0502040204020203" pitchFamily="34" charset="0"/>
                <a:ea typeface="MuseoModerno Medium" pitchFamily="34" charset="-122"/>
                <a:cs typeface="Segoe UI" panose="020B0502040204020203" pitchFamily="34" charset="0"/>
              </a:rPr>
              <a:t>Lifestyle</a:t>
            </a:r>
            <a:endParaRPr lang="en-US" sz="145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4157483" y="6869301"/>
            <a:ext cx="2863691" cy="302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Customer Anxiety (poor </a:t>
            </a:r>
            <a:r>
              <a:rPr lang="en-US" sz="16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tracking)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793790" y="7413903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Strategic Insight: Fulfillment failures are physical delivery problems, while Customer Anxiety is a communication failure. Each requires targeted interventions.</a:t>
            </a:r>
            <a:endParaRPr lang="en-US" sz="11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0440808-3B7D-F041-22F7-AADFF7F89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3473" y="2300377"/>
            <a:ext cx="6360757" cy="492110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02C4AE1-84D3-8EAA-DF4B-8422147CFB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170" y="2281445"/>
            <a:ext cx="6487248" cy="30793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6280190" y="627936"/>
            <a:ext cx="2154198" cy="370642"/>
          </a:xfrm>
          <a:prstGeom prst="roundRect">
            <a:avLst>
              <a:gd name="adj" fmla="val 6609"/>
            </a:avLst>
          </a:prstGeom>
          <a:solidFill>
            <a:srgbClr val="DBE8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1"/>
          <p:cNvSpPr/>
          <p:nvPr/>
        </p:nvSpPr>
        <p:spPr>
          <a:xfrm>
            <a:off x="6402586" y="689134"/>
            <a:ext cx="1909405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STRATEGIC INTERVENTIONS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6280190" y="1072039"/>
            <a:ext cx="7556421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124E73"/>
                </a:solidFill>
                <a:latin typeface="Rockwell Extra Bold" panose="02060903040505020403" pitchFamily="18" charset="0"/>
                <a:ea typeface="MuseoModerno Medium" pitchFamily="34" charset="-122"/>
                <a:cs typeface="MuseoModerno Medium" pitchFamily="34" charset="-120"/>
              </a:rPr>
              <a:t>NLP Solutions: Addressing Root Causes</a:t>
            </a:r>
            <a:endParaRPr lang="en-US" sz="4000" b="1" dirty="0">
              <a:latin typeface="Rockwell Extra Bold" panose="02060903040505020403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6280190" y="2807137"/>
            <a:ext cx="3529251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24E73"/>
                </a:solidFill>
                <a:latin typeface="Segoe UI" panose="020B0502040204020203" pitchFamily="34" charset="0"/>
                <a:ea typeface="MuseoModerno Medium" pitchFamily="34" charset="-122"/>
                <a:cs typeface="Segoe UI" panose="020B0502040204020203" pitchFamily="34" charset="0"/>
              </a:rPr>
              <a:t>Proactive Logistics &amp; Dispute Management</a:t>
            </a:r>
            <a:endParaRPr lang="en-US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280190" y="3628549"/>
            <a:ext cx="3529251" cy="785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Address both </a:t>
            </a:r>
            <a:r>
              <a:rPr lang="en-US" sz="1600" b="1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"Action"</a:t>
            </a:r>
            <a:r>
              <a:rPr lang="en-US" sz="160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 problems and </a:t>
            </a:r>
            <a:r>
              <a:rPr lang="en-US" sz="1600" b="1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"Psychological"</a:t>
            </a:r>
            <a:r>
              <a:rPr lang="en-US" sz="160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 problems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6280190" y="4414361"/>
            <a:ext cx="3529251" cy="223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Implement Live Customer Service to mediate disputes in real-time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Actively monitor orders with extreme lead times, impose strict penalties on underperforming sellers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280190" y="6815852"/>
            <a:ext cx="3529251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Result: Significantly reduce Customer Anxiety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0314980" y="2807137"/>
            <a:ext cx="3529251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24E73"/>
                </a:solidFill>
                <a:latin typeface="Segoe UI" panose="020B0502040204020203" pitchFamily="34" charset="0"/>
                <a:ea typeface="MuseoModerno Medium" pitchFamily="34" charset="-122"/>
                <a:cs typeface="Segoe UI" panose="020B0502040204020203" pitchFamily="34" charset="0"/>
              </a:rPr>
              <a:t>Product Integrity &amp; Information Standards</a:t>
            </a:r>
            <a:endParaRPr lang="en-US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10314980" y="3628549"/>
            <a:ext cx="3529251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Address Specification and Installation issues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10314980" y="4414361"/>
            <a:ext cx="3529251" cy="223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Audit product specifications to eliminate fraud and ensure platform integrity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Implement Mandatory Digital Documentation standard, require sellers to upload instructional videos or enhanced digital manuals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DE9143-B253-C0B3-E0DD-60E9F08117CC}"/>
              </a:ext>
            </a:extLst>
          </p:cNvPr>
          <p:cNvSpPr/>
          <p:nvPr/>
        </p:nvSpPr>
        <p:spPr>
          <a:xfrm>
            <a:off x="0" y="-17022"/>
            <a:ext cx="5774651" cy="8229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 10"/>
          <p:cNvSpPr/>
          <p:nvPr/>
        </p:nvSpPr>
        <p:spPr>
          <a:xfrm>
            <a:off x="10314980" y="6815852"/>
            <a:ext cx="3529251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Result: Reduce avoidable returns and improve post-purchase experience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37" y="1473637"/>
            <a:ext cx="5282327" cy="528232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E07C4-E72C-99E3-7431-6442803E5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1845ACD-040D-0E55-914D-F03554B90047}"/>
              </a:ext>
            </a:extLst>
          </p:cNvPr>
          <p:cNvSpPr/>
          <p:nvPr/>
        </p:nvSpPr>
        <p:spPr>
          <a:xfrm>
            <a:off x="781407" y="668298"/>
            <a:ext cx="1697474" cy="362903"/>
          </a:xfrm>
          <a:prstGeom prst="roundRect">
            <a:avLst>
              <a:gd name="adj" fmla="val 6645"/>
            </a:avLst>
          </a:prstGeom>
          <a:solidFill>
            <a:srgbClr val="DBE8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31CE3E-8ED1-8CBB-3562-EAAFD33B2040}"/>
              </a:ext>
            </a:extLst>
          </p:cNvPr>
          <p:cNvSpPr/>
          <p:nvPr/>
        </p:nvSpPr>
        <p:spPr>
          <a:xfrm>
            <a:off x="901898" y="728543"/>
            <a:ext cx="1456492" cy="242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PREDICTIVE ANALYSIS</a:t>
            </a:r>
            <a:endParaRPr lang="en-US" sz="12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60A7741-5FE1-A00E-86DB-D82747A8D7EF}"/>
              </a:ext>
            </a:extLst>
          </p:cNvPr>
          <p:cNvSpPr/>
          <p:nvPr/>
        </p:nvSpPr>
        <p:spPr>
          <a:xfrm>
            <a:off x="781407" y="1102400"/>
            <a:ext cx="12133209" cy="628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50" b="1" dirty="0">
                <a:solidFill>
                  <a:srgbClr val="124E73"/>
                </a:solidFill>
                <a:latin typeface="Rockwell Extra Bold" panose="02060903040505020403" pitchFamily="18" charset="0"/>
                <a:ea typeface="MuseoModerno Medium" pitchFamily="34" charset="-122"/>
                <a:cs typeface="MuseoModerno Medium" pitchFamily="34" charset="-120"/>
              </a:rPr>
              <a:t>SARIMAX Forecasting 1: AIC</a:t>
            </a:r>
            <a:endParaRPr lang="en-US" sz="3950" b="1" dirty="0">
              <a:latin typeface="Rockwell Extra Bold" panose="02060903040505020403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7475AE1-5BFE-3D2E-5634-A7FCFFBB0BF0}"/>
              </a:ext>
            </a:extLst>
          </p:cNvPr>
          <p:cNvSpPr/>
          <p:nvPr/>
        </p:nvSpPr>
        <p:spPr>
          <a:xfrm>
            <a:off x="781407" y="1801654"/>
            <a:ext cx="9284256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124E73"/>
                </a:solidFill>
                <a:latin typeface="Segoe UI" panose="020B0502040204020203" pitchFamily="34" charset="0"/>
                <a:ea typeface="MuseoModerno Medium" pitchFamily="34" charset="-122"/>
                <a:cs typeface="Segoe UI" panose="020B0502040204020203" pitchFamily="34" charset="0"/>
              </a:rPr>
              <a:t>Seasonal forecasting with exogenous variables (weekend ratio, delivery days)</a:t>
            </a:r>
            <a:endParaRPr lang="en-US" sz="195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059DBB5-3719-849A-51A4-8898B3C890B9}"/>
              </a:ext>
            </a:extLst>
          </p:cNvPr>
          <p:cNvSpPr/>
          <p:nvPr/>
        </p:nvSpPr>
        <p:spPr>
          <a:xfrm>
            <a:off x="781407" y="5314387"/>
            <a:ext cx="13067586" cy="951635"/>
          </a:xfrm>
          <a:prstGeom prst="roundRect">
            <a:avLst>
              <a:gd name="adj" fmla="val 2753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D6084E90-50A5-7B6B-EA28-E9E5DF98D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809" y="5525284"/>
            <a:ext cx="251103" cy="200858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82D6320E-CDC3-C7A2-24EF-EE0BC5848432}"/>
              </a:ext>
            </a:extLst>
          </p:cNvPr>
          <p:cNvSpPr/>
          <p:nvPr/>
        </p:nvSpPr>
        <p:spPr>
          <a:xfrm>
            <a:off x="1434226" y="5442823"/>
            <a:ext cx="11936085" cy="60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Home &amp; Living</a:t>
            </a: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The highest AIC indicates complexity and volatility, unpredictability reflects fulfillment failures and product specification discrepancies.</a:t>
            </a:r>
            <a:endParaRPr lang="en-US" sz="155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7101EB6B-EEC9-B3C5-8F63-0206F732CACF}"/>
              </a:ext>
            </a:extLst>
          </p:cNvPr>
          <p:cNvSpPr/>
          <p:nvPr/>
        </p:nvSpPr>
        <p:spPr>
          <a:xfrm>
            <a:off x="781407" y="6466284"/>
            <a:ext cx="13067586" cy="1094899"/>
          </a:xfrm>
          <a:prstGeom prst="roundRect">
            <a:avLst>
              <a:gd name="adj" fmla="val 2753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1129E218-CA34-0B67-FD25-79D490898A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266" y="6747153"/>
            <a:ext cx="251103" cy="200858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86ECCC31-8123-BD18-C74B-2FC4B7B858D2}"/>
              </a:ext>
            </a:extLst>
          </p:cNvPr>
          <p:cNvSpPr/>
          <p:nvPr/>
        </p:nvSpPr>
        <p:spPr>
          <a:xfrm>
            <a:off x="1434227" y="6694408"/>
            <a:ext cx="12213908" cy="60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Media &amp; Essentials: </a:t>
            </a: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Lowest AIC score(377.6) indicates the most statistically reliable forecast</a:t>
            </a:r>
            <a:endParaRPr lang="en-US" sz="15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A14417A-D4D4-43D8-14E6-757253FE8D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407" y="2315884"/>
            <a:ext cx="13067586" cy="27379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CF5514-550A-3CF6-6C7B-5DB1127061EE}"/>
              </a:ext>
            </a:extLst>
          </p:cNvPr>
          <p:cNvSpPr txBox="1"/>
          <p:nvPr/>
        </p:nvSpPr>
        <p:spPr>
          <a:xfrm>
            <a:off x="10065663" y="1701968"/>
            <a:ext cx="37833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124E7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Training data (Jan 2017 – Aug 2018) </a:t>
            </a:r>
          </a:p>
          <a:p>
            <a:r>
              <a:rPr lang="en-GB" sz="1400" b="1" dirty="0">
                <a:solidFill>
                  <a:srgbClr val="124E7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Forecast Period: Sep 2018 &amp; (S4 Trend)</a:t>
            </a:r>
            <a:endParaRPr lang="en-GB" sz="1400" b="1" i="1" dirty="0">
              <a:solidFill>
                <a:srgbClr val="124E7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4964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E05D0-0162-2151-7D4F-BCB1250E8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01511EC-41D2-FEFB-A91B-9BA4F770576A}"/>
              </a:ext>
            </a:extLst>
          </p:cNvPr>
          <p:cNvSpPr/>
          <p:nvPr/>
        </p:nvSpPr>
        <p:spPr>
          <a:xfrm>
            <a:off x="781407" y="668298"/>
            <a:ext cx="1697474" cy="362903"/>
          </a:xfrm>
          <a:prstGeom prst="roundRect">
            <a:avLst>
              <a:gd name="adj" fmla="val 6645"/>
            </a:avLst>
          </a:prstGeom>
          <a:solidFill>
            <a:srgbClr val="DBE8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26D30D1-E789-5143-2CEB-48DD7283FA74}"/>
              </a:ext>
            </a:extLst>
          </p:cNvPr>
          <p:cNvSpPr/>
          <p:nvPr/>
        </p:nvSpPr>
        <p:spPr>
          <a:xfrm>
            <a:off x="901898" y="728543"/>
            <a:ext cx="1456492" cy="242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PREDICTIVE ANALYSIS</a:t>
            </a:r>
            <a:endParaRPr lang="en-US" sz="12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E4026B6-AAE1-F0BF-FD9E-A28946A604FF}"/>
              </a:ext>
            </a:extLst>
          </p:cNvPr>
          <p:cNvSpPr/>
          <p:nvPr/>
        </p:nvSpPr>
        <p:spPr>
          <a:xfrm>
            <a:off x="781407" y="1102400"/>
            <a:ext cx="12133209" cy="628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50" b="1" dirty="0">
                <a:solidFill>
                  <a:srgbClr val="124E73"/>
                </a:solidFill>
                <a:latin typeface="Rockwell Extra Bold" panose="02060903040505020403" pitchFamily="18" charset="0"/>
                <a:ea typeface="MuseoModerno Medium" pitchFamily="34" charset="-122"/>
                <a:cs typeface="MuseoModerno Medium" pitchFamily="34" charset="-120"/>
              </a:rPr>
              <a:t>SARIMAX Forecasting 2: External Drivers</a:t>
            </a:r>
            <a:endParaRPr lang="en-US" sz="3950" b="1" dirty="0">
              <a:latin typeface="Rockwell Extra Bold" panose="02060903040505020403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1D1A5F4-E1BE-E881-326C-AC535C7F2C13}"/>
              </a:ext>
            </a:extLst>
          </p:cNvPr>
          <p:cNvSpPr/>
          <p:nvPr/>
        </p:nvSpPr>
        <p:spPr>
          <a:xfrm>
            <a:off x="781407" y="1801654"/>
            <a:ext cx="9284256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124E73"/>
                </a:solidFill>
                <a:latin typeface="Segoe UI" panose="020B0502040204020203" pitchFamily="34" charset="0"/>
                <a:ea typeface="MuseoModerno Medium" pitchFamily="34" charset="-122"/>
                <a:cs typeface="Segoe UI" panose="020B0502040204020203" pitchFamily="34" charset="0"/>
              </a:rPr>
              <a:t>Seasonal forecasting with exogenous variables (weekend ratio, delivery days)</a:t>
            </a:r>
            <a:endParaRPr lang="en-US" sz="195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895873A7-E440-F080-9CCA-2D631678C82C}"/>
              </a:ext>
            </a:extLst>
          </p:cNvPr>
          <p:cNvSpPr/>
          <p:nvPr/>
        </p:nvSpPr>
        <p:spPr>
          <a:xfrm>
            <a:off x="781407" y="5314387"/>
            <a:ext cx="13067586" cy="951635"/>
          </a:xfrm>
          <a:prstGeom prst="roundRect">
            <a:avLst>
              <a:gd name="adj" fmla="val 2753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37FAEC91-E16A-0DAB-D276-60DD3C2DAD01}"/>
              </a:ext>
            </a:extLst>
          </p:cNvPr>
          <p:cNvSpPr/>
          <p:nvPr/>
        </p:nvSpPr>
        <p:spPr>
          <a:xfrm>
            <a:off x="1434226" y="5442823"/>
            <a:ext cx="11936085" cy="60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US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Other Categories</a:t>
            </a:r>
            <a:r>
              <a:rPr lang="en-US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</a:t>
            </a:r>
            <a:r>
              <a:rPr lang="en-GB" dirty="0"/>
              <a:t>Purchasing is concentrated on weekdays.</a:t>
            </a:r>
            <a:endParaRPr lang="en-US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7A565053-41BB-4538-F189-EC625FB7E4CD}"/>
              </a:ext>
            </a:extLst>
          </p:cNvPr>
          <p:cNvSpPr/>
          <p:nvPr/>
        </p:nvSpPr>
        <p:spPr>
          <a:xfrm>
            <a:off x="781407" y="6466284"/>
            <a:ext cx="13067586" cy="1094899"/>
          </a:xfrm>
          <a:prstGeom prst="roundRect">
            <a:avLst>
              <a:gd name="adj" fmla="val 2753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593D5089-38F7-3F95-2239-883E1CA09225}"/>
              </a:ext>
            </a:extLst>
          </p:cNvPr>
          <p:cNvSpPr/>
          <p:nvPr/>
        </p:nvSpPr>
        <p:spPr>
          <a:xfrm>
            <a:off x="1434227" y="6694408"/>
            <a:ext cx="12213908" cy="60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US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Media &amp; Essentials:</a:t>
            </a:r>
            <a:r>
              <a:rPr lang="en-GB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GB" dirty="0"/>
              <a:t>Demand remains consistent throughout the entire week, with sales heavily influenced by delivery speed.</a:t>
            </a:r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86BFC0D-C0EE-922C-2DC7-3648E7B15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07" y="2315884"/>
            <a:ext cx="13067586" cy="27379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AF62CD-665C-E7AA-80B7-022A5E79722D}"/>
              </a:ext>
            </a:extLst>
          </p:cNvPr>
          <p:cNvSpPr txBox="1"/>
          <p:nvPr/>
        </p:nvSpPr>
        <p:spPr>
          <a:xfrm>
            <a:off x="10065663" y="1701968"/>
            <a:ext cx="37833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124E7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Training data (Jan 2017 – Aug 2018) </a:t>
            </a:r>
          </a:p>
          <a:p>
            <a:r>
              <a:rPr lang="en-GB" sz="1400" b="1" dirty="0">
                <a:solidFill>
                  <a:srgbClr val="124E7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Forecast Period: Sep 2018 &amp; (S4 Trend)</a:t>
            </a:r>
            <a:endParaRPr lang="en-GB" sz="1400" b="1" i="1" dirty="0">
              <a:solidFill>
                <a:srgbClr val="124E7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798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B84D4-36B3-D1D1-124C-E0BC57E02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01F4F6D-0A45-76D6-7C03-A9E5292E451F}"/>
              </a:ext>
            </a:extLst>
          </p:cNvPr>
          <p:cNvSpPr/>
          <p:nvPr/>
        </p:nvSpPr>
        <p:spPr>
          <a:xfrm>
            <a:off x="781407" y="668298"/>
            <a:ext cx="1697474" cy="362903"/>
          </a:xfrm>
          <a:prstGeom prst="roundRect">
            <a:avLst>
              <a:gd name="adj" fmla="val 6645"/>
            </a:avLst>
          </a:prstGeom>
          <a:solidFill>
            <a:srgbClr val="DBE8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D0D950A-2F3D-5F59-F19F-E88CDCEA34C2}"/>
              </a:ext>
            </a:extLst>
          </p:cNvPr>
          <p:cNvSpPr/>
          <p:nvPr/>
        </p:nvSpPr>
        <p:spPr>
          <a:xfrm>
            <a:off x="901898" y="728543"/>
            <a:ext cx="1456492" cy="242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PREDICTIVE ANALYSIS</a:t>
            </a:r>
            <a:endParaRPr lang="en-US" sz="12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FAB251E-22D9-6644-798E-E11FEE9A560C}"/>
              </a:ext>
            </a:extLst>
          </p:cNvPr>
          <p:cNvSpPr/>
          <p:nvPr/>
        </p:nvSpPr>
        <p:spPr>
          <a:xfrm>
            <a:off x="781407" y="1102400"/>
            <a:ext cx="12133209" cy="628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50" b="1" dirty="0">
                <a:solidFill>
                  <a:srgbClr val="124E73"/>
                </a:solidFill>
                <a:latin typeface="Rockwell Extra Bold" panose="02060903040505020403" pitchFamily="18" charset="0"/>
                <a:ea typeface="MuseoModerno Medium" pitchFamily="34" charset="-122"/>
                <a:cs typeface="MuseoModerno Medium" pitchFamily="34" charset="-120"/>
              </a:rPr>
              <a:t>SARIMAX Forecasting 3: Trend</a:t>
            </a:r>
            <a:endParaRPr lang="en-US" sz="3950" b="1" dirty="0">
              <a:latin typeface="Rockwell Extra Bold" panose="02060903040505020403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C2B7FEB-3119-EF48-D8F3-89644203A34A}"/>
              </a:ext>
            </a:extLst>
          </p:cNvPr>
          <p:cNvSpPr/>
          <p:nvPr/>
        </p:nvSpPr>
        <p:spPr>
          <a:xfrm>
            <a:off x="781407" y="1801654"/>
            <a:ext cx="9284256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124E73"/>
                </a:solidFill>
                <a:latin typeface="Segoe UI" panose="020B0502040204020203" pitchFamily="34" charset="0"/>
                <a:ea typeface="MuseoModerno Medium" pitchFamily="34" charset="-122"/>
                <a:cs typeface="Segoe UI" panose="020B0502040204020203" pitchFamily="34" charset="0"/>
              </a:rPr>
              <a:t>Seasonal forecasting with exogenous variables (weekend ratio, delivery days)</a:t>
            </a:r>
            <a:endParaRPr lang="en-US" sz="195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B94C397-228D-0ADB-B8F8-78A2BADD75CC}"/>
              </a:ext>
            </a:extLst>
          </p:cNvPr>
          <p:cNvSpPr/>
          <p:nvPr/>
        </p:nvSpPr>
        <p:spPr>
          <a:xfrm>
            <a:off x="781407" y="5314387"/>
            <a:ext cx="13067586" cy="951635"/>
          </a:xfrm>
          <a:prstGeom prst="roundRect">
            <a:avLst>
              <a:gd name="adj" fmla="val 2753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36BF8AA6-53E7-C285-32E7-4CAD852A0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809" y="5525284"/>
            <a:ext cx="251103" cy="200858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81272074-0F16-7193-DC06-1528AFEA5FCA}"/>
              </a:ext>
            </a:extLst>
          </p:cNvPr>
          <p:cNvSpPr/>
          <p:nvPr/>
        </p:nvSpPr>
        <p:spPr>
          <a:xfrm>
            <a:off x="1434226" y="5442823"/>
            <a:ext cx="11936085" cy="60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GB" sz="1600" b="1" dirty="0"/>
              <a:t>Declining Categories: Tech &amp; Gadgets </a:t>
            </a:r>
            <a:r>
              <a:rPr lang="en-GB" sz="1600" dirty="0"/>
              <a:t>most significant drop at </a:t>
            </a:r>
            <a:r>
              <a:rPr lang="en-GB" b="1" dirty="0"/>
              <a:t>3.7%, Home &amp; Living:</a:t>
            </a:r>
            <a:r>
              <a:rPr lang="en-GB" sz="1600" dirty="0"/>
              <a:t> Expected to decline by </a:t>
            </a:r>
            <a:r>
              <a:rPr lang="en-GB" b="1" dirty="0"/>
              <a:t>1.8%</a:t>
            </a:r>
            <a:r>
              <a:rPr lang="en-GB" sz="1600" dirty="0"/>
              <a:t>.</a:t>
            </a:r>
            <a:endParaRPr lang="en-US" sz="1550" b="1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3EAF9BC6-C355-80D5-EEB8-C35B455BB3F0}"/>
              </a:ext>
            </a:extLst>
          </p:cNvPr>
          <p:cNvSpPr/>
          <p:nvPr/>
        </p:nvSpPr>
        <p:spPr>
          <a:xfrm>
            <a:off x="781407" y="6466284"/>
            <a:ext cx="13067586" cy="1094899"/>
          </a:xfrm>
          <a:prstGeom prst="roundRect">
            <a:avLst>
              <a:gd name="adj" fmla="val 2753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5636069F-9450-4A18-22B6-611928985A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266" y="6747153"/>
            <a:ext cx="251103" cy="200858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83A4601C-8AFF-D5BE-82FE-C1D5D32499FC}"/>
              </a:ext>
            </a:extLst>
          </p:cNvPr>
          <p:cNvSpPr/>
          <p:nvPr/>
        </p:nvSpPr>
        <p:spPr>
          <a:xfrm>
            <a:off x="1434227" y="6694408"/>
            <a:ext cx="12213908" cy="60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GB" sz="1600" b="1" dirty="0"/>
              <a:t>Growth &amp; Resilience Categories: </a:t>
            </a:r>
            <a:r>
              <a:rPr lang="en-GB" b="1" dirty="0"/>
              <a:t>Media &amp; Essentials</a:t>
            </a:r>
            <a:r>
              <a:rPr lang="en-GB" sz="1600" b="1" dirty="0"/>
              <a:t> </a:t>
            </a:r>
            <a:r>
              <a:rPr lang="en-GB" sz="1600" dirty="0"/>
              <a:t>show a standout performer with a projected </a:t>
            </a:r>
            <a:r>
              <a:rPr lang="en-GB" b="1" dirty="0"/>
              <a:t>9.7%</a:t>
            </a:r>
            <a:r>
              <a:rPr lang="en-GB" sz="1600" dirty="0"/>
              <a:t> increase.</a:t>
            </a:r>
            <a:r>
              <a:rPr lang="en-GB" b="1" dirty="0"/>
              <a:t> Lifestyle </a:t>
            </a:r>
            <a:r>
              <a:rPr lang="en-GB" dirty="0"/>
              <a:t>maintaining steady momentum at </a:t>
            </a:r>
            <a:r>
              <a:rPr lang="en-GB" b="1" dirty="0"/>
              <a:t>1.3%</a:t>
            </a:r>
            <a:r>
              <a:rPr lang="en-GB" dirty="0"/>
              <a:t>.</a:t>
            </a:r>
          </a:p>
          <a:p>
            <a:pPr>
              <a:lnSpc>
                <a:spcPts val="2350"/>
              </a:lnSpc>
            </a:pPr>
            <a:endParaRPr lang="en-US" sz="15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FCD6BD3-6C1A-9C56-9D8E-8E5EF9E9E4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407" y="2315884"/>
            <a:ext cx="13067586" cy="27379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29C073-B35C-5A65-7860-530D71B0A94B}"/>
              </a:ext>
            </a:extLst>
          </p:cNvPr>
          <p:cNvSpPr txBox="1"/>
          <p:nvPr/>
        </p:nvSpPr>
        <p:spPr>
          <a:xfrm>
            <a:off x="10065663" y="1701968"/>
            <a:ext cx="37833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124E7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Training data (Jan 2017 – Aug 2018) </a:t>
            </a:r>
          </a:p>
          <a:p>
            <a:r>
              <a:rPr lang="en-GB" sz="1400" b="1" dirty="0">
                <a:solidFill>
                  <a:srgbClr val="124E7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Forecast Period: Sep 2018 &amp; (S4 Trend)</a:t>
            </a:r>
            <a:endParaRPr lang="en-GB" sz="1400" b="1" i="1" dirty="0">
              <a:solidFill>
                <a:srgbClr val="124E7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2492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AAADF-1082-2E5A-A9C0-14BBE925D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8493A8D-9402-C143-5A59-FD35C789BE69}"/>
              </a:ext>
            </a:extLst>
          </p:cNvPr>
          <p:cNvSpPr/>
          <p:nvPr/>
        </p:nvSpPr>
        <p:spPr>
          <a:xfrm>
            <a:off x="781407" y="668298"/>
            <a:ext cx="1697474" cy="362903"/>
          </a:xfrm>
          <a:prstGeom prst="roundRect">
            <a:avLst>
              <a:gd name="adj" fmla="val 6645"/>
            </a:avLst>
          </a:prstGeom>
          <a:solidFill>
            <a:srgbClr val="DBE8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C50D667-CE5B-168A-FE47-6D5E869D6252}"/>
              </a:ext>
            </a:extLst>
          </p:cNvPr>
          <p:cNvSpPr/>
          <p:nvPr/>
        </p:nvSpPr>
        <p:spPr>
          <a:xfrm>
            <a:off x="901898" y="728543"/>
            <a:ext cx="1456492" cy="242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PREDICTIVE ANALYSIS</a:t>
            </a:r>
            <a:endParaRPr lang="en-US" sz="12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D461B05-573B-EB8D-D253-C1D8F5C7D6F9}"/>
              </a:ext>
            </a:extLst>
          </p:cNvPr>
          <p:cNvSpPr/>
          <p:nvPr/>
        </p:nvSpPr>
        <p:spPr>
          <a:xfrm>
            <a:off x="781407" y="1102400"/>
            <a:ext cx="12133209" cy="628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50" b="1" dirty="0">
                <a:solidFill>
                  <a:srgbClr val="124E73"/>
                </a:solidFill>
                <a:latin typeface="Rockwell Extra Bold" panose="02060903040505020403" pitchFamily="18" charset="0"/>
                <a:ea typeface="MuseoModerno Medium" pitchFamily="34" charset="-122"/>
                <a:cs typeface="MuseoModerno Medium" pitchFamily="34" charset="-120"/>
              </a:rPr>
              <a:t>Appendix: SARIMAX Forecasting Line Chart</a:t>
            </a:r>
            <a:endParaRPr lang="en-US" sz="3950" b="1" dirty="0">
              <a:latin typeface="Rockwell Extra Bold" panose="020609030405050204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6DB5FA-DF01-EFA1-CA55-CDBEEF8BAE39}"/>
              </a:ext>
            </a:extLst>
          </p:cNvPr>
          <p:cNvSpPr txBox="1"/>
          <p:nvPr/>
        </p:nvSpPr>
        <p:spPr>
          <a:xfrm>
            <a:off x="10325514" y="1727630"/>
            <a:ext cx="37833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124E7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Training data (Jan 2017 – Aug 2018) </a:t>
            </a:r>
          </a:p>
          <a:p>
            <a:r>
              <a:rPr lang="en-GB" sz="1400" b="1" dirty="0">
                <a:solidFill>
                  <a:srgbClr val="124E7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Forecast Period: Sep 2018 &amp; (S4 Trend)</a:t>
            </a:r>
            <a:endParaRPr lang="en-GB" sz="1400" b="1" i="1" dirty="0">
              <a:solidFill>
                <a:srgbClr val="124E7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95CD894-C992-9189-95E3-F294658E1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07" y="1730455"/>
            <a:ext cx="9409524" cy="63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2444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2CFA2-2829-1140-D480-F0A8A267A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DF6F9C5A-E479-C042-1717-F59EBCFC5BD1}"/>
              </a:ext>
            </a:extLst>
          </p:cNvPr>
          <p:cNvSpPr/>
          <p:nvPr/>
        </p:nvSpPr>
        <p:spPr>
          <a:xfrm>
            <a:off x="781407" y="1102400"/>
            <a:ext cx="12133209" cy="628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900"/>
              </a:lnSpc>
            </a:pPr>
            <a:r>
              <a:rPr lang="en-US" sz="3950" b="1" dirty="0">
                <a:solidFill>
                  <a:srgbClr val="124E73"/>
                </a:solidFill>
                <a:latin typeface="Rockwell Extra Bold" panose="02060903040505020403" pitchFamily="18" charset="0"/>
                <a:ea typeface="MuseoModerno Medium" pitchFamily="34" charset="-122"/>
                <a:cs typeface="MuseoModerno Medium" pitchFamily="34" charset="-120"/>
              </a:rPr>
              <a:t>Appendix: </a:t>
            </a:r>
            <a:r>
              <a:rPr lang="en-US" altLang="zh-CN" sz="3950" b="1" dirty="0" err="1">
                <a:solidFill>
                  <a:srgbClr val="124E73"/>
                </a:solidFill>
                <a:latin typeface="Rockwell Extra Bold" panose="02060903040505020403" pitchFamily="18" charset="0"/>
                <a:ea typeface="MuseoModerno Medium" pitchFamily="34" charset="-122"/>
                <a:cs typeface="MuseoModerno Medium" pitchFamily="34" charset="-120"/>
              </a:rPr>
              <a:t>NLPBERTopic</a:t>
            </a:r>
            <a:r>
              <a:rPr lang="en-US" altLang="zh-CN" sz="3950" b="1" dirty="0">
                <a:solidFill>
                  <a:srgbClr val="124E73"/>
                </a:solidFill>
                <a:latin typeface="Rockwell Extra Bold" panose="02060903040505020403" pitchFamily="18" charset="0"/>
                <a:ea typeface="MuseoModerno Medium" pitchFamily="34" charset="-122"/>
                <a:cs typeface="MuseoModerno Medium" pitchFamily="34" charset="-120"/>
              </a:rPr>
              <a:t> Overview</a:t>
            </a:r>
            <a:endParaRPr lang="en-US" sz="3950" b="1" dirty="0">
              <a:latin typeface="Rockwell Extra Bold" panose="02060903040505020403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3492B9-B071-4766-B256-375C4BABB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402" y="1930584"/>
            <a:ext cx="4278978" cy="29228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01E465-C38A-B3E0-8F09-4CCB64706B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497" y="1934593"/>
            <a:ext cx="8361905" cy="29285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AE2EDD1-4883-80E2-9D52-F1374B69E4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0449" y="4863144"/>
            <a:ext cx="7452436" cy="319996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E3B6189-2155-8AB7-D34A-2E70D6FCED0A}"/>
              </a:ext>
            </a:extLst>
          </p:cNvPr>
          <p:cNvSpPr txBox="1"/>
          <p:nvPr/>
        </p:nvSpPr>
        <p:spPr>
          <a:xfrm>
            <a:off x="439495" y="5452927"/>
            <a:ext cx="40544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Topic 0,3,7,8 are selected</a:t>
            </a:r>
          </a:p>
          <a:p>
            <a:endParaRPr lang="en-GB" sz="2400" b="1" dirty="0"/>
          </a:p>
          <a:p>
            <a:r>
              <a:rPr lang="en-GB" sz="2400" b="1" dirty="0"/>
              <a:t>5287 + 307 + 13 + 12 = 5619 reviews</a:t>
            </a:r>
          </a:p>
        </p:txBody>
      </p:sp>
    </p:spTree>
    <p:extLst>
      <p:ext uri="{BB962C8B-B14F-4D97-AF65-F5344CB8AC3E}">
        <p14:creationId xmlns:p14="http://schemas.microsoft.com/office/powerpoint/2010/main" val="167586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083118"/>
            <a:ext cx="1822013" cy="426244"/>
          </a:xfrm>
          <a:prstGeom prst="roundRect">
            <a:avLst>
              <a:gd name="adj" fmla="val 6386"/>
            </a:avLst>
          </a:prstGeom>
          <a:solidFill>
            <a:srgbClr val="DBE8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929878" y="2151102"/>
            <a:ext cx="154983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STRATEGIC ACTIONS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600087"/>
            <a:ext cx="1037117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24E73"/>
                </a:solidFill>
                <a:latin typeface="Rockwell Extra Bold" panose="02060903040505020403" pitchFamily="18" charset="0"/>
                <a:ea typeface="MuseoModerno Medium" pitchFamily="34" charset="-122"/>
                <a:cs typeface="MuseoModerno Medium" pitchFamily="34" charset="-120"/>
              </a:rPr>
              <a:t>Predictive Solutions: Growth Strategy</a:t>
            </a:r>
            <a:endParaRPr lang="en-US" sz="4450" b="1" dirty="0">
              <a:latin typeface="Rockwell Extra Bold" panose="020609030405050204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3875842"/>
            <a:ext cx="42780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24E73"/>
                </a:solidFill>
                <a:latin typeface="Segoe UI" panose="020B0502040204020203" pitchFamily="34" charset="0"/>
                <a:ea typeface="MuseoModerno Medium" pitchFamily="34" charset="-122"/>
                <a:cs typeface="Segoe UI" panose="020B0502040204020203" pitchFamily="34" charset="0"/>
              </a:rPr>
              <a:t>Strategic Resource Reallocation</a:t>
            </a:r>
            <a:endParaRPr lang="en-US" sz="2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445698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Shift marketing budgets toward Media &amp; Essentials category to secure stable, predictable revenue growth</a:t>
            </a:r>
            <a:endParaRPr lang="en-US" sz="17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99521" y="3875842"/>
            <a:ext cx="58288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24E73"/>
                </a:solidFill>
                <a:latin typeface="Segoe UI" panose="020B0502040204020203" pitchFamily="34" charset="0"/>
                <a:ea typeface="MuseoModerno Medium" pitchFamily="34" charset="-122"/>
                <a:cs typeface="Segoe UI" panose="020B0502040204020203" pitchFamily="34" charset="0"/>
              </a:rPr>
              <a:t>Logistics Stress Tests for Media &amp; Essentials</a:t>
            </a:r>
            <a:endParaRPr lang="en-US" sz="2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99521" y="4456986"/>
            <a:ext cx="6244709" cy="161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Conduct intensive stress testing specifically for Media &amp; Essentials sector</a:t>
            </a:r>
            <a:endParaRPr lang="en-US" sz="175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Protect largest revenue stream from fulfillment volatility</a:t>
            </a:r>
            <a:endParaRPr lang="en-US" sz="17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11" y="0"/>
            <a:ext cx="6280189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717352"/>
            <a:ext cx="1201579" cy="317778"/>
          </a:xfrm>
          <a:prstGeom prst="roundRect">
            <a:avLst>
              <a:gd name="adj" fmla="val 6852"/>
            </a:avLst>
          </a:prstGeom>
          <a:solidFill>
            <a:srgbClr val="DBE8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902613" y="771763"/>
            <a:ext cx="98393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93790" y="1093113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24E73"/>
                </a:solidFill>
                <a:latin typeface="Rockwell Extra Bold" panose="02060903040505020403" pitchFamily="18" charset="0"/>
                <a:ea typeface="MuseoModerno Medium" pitchFamily="34" charset="-122"/>
                <a:cs typeface="MuseoModerno Medium" pitchFamily="34" charset="-120"/>
              </a:rPr>
              <a:t>Conclusion: From Transactional to Customer-Centric</a:t>
            </a:r>
            <a:endParaRPr lang="en-US" sz="3550" b="1" dirty="0">
              <a:latin typeface="Rockwell Extra Bold" panose="02060903040505020403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2444710"/>
            <a:ext cx="755642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93790" y="2923580"/>
            <a:ext cx="75564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124E73"/>
                </a:solidFill>
                <a:latin typeface="Segoe UI" panose="020B0502040204020203" pitchFamily="34" charset="0"/>
                <a:ea typeface="MuseoModerno Medium" pitchFamily="34" charset="-122"/>
                <a:cs typeface="Segoe UI" panose="020B0502040204020203" pitchFamily="34" charset="0"/>
              </a:rPr>
              <a:t>Strategic Pivot: Transform from a purely transactional platform to a customer-centric market leader.</a:t>
            </a:r>
            <a:endParaRPr lang="en-US" sz="21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821549"/>
            <a:ext cx="907256" cy="10887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46183" y="4003000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B4150"/>
                </a:solidFill>
                <a:latin typeface="Segoe UI" panose="020B0502040204020203" pitchFamily="34" charset="0"/>
                <a:ea typeface="MuseoModerno Medium" pitchFamily="34" charset="-122"/>
                <a:cs typeface="Segoe UI" panose="020B0502040204020203" pitchFamily="34" charset="0"/>
              </a:rPr>
              <a:t>Address Pain Points</a:t>
            </a:r>
            <a:endParaRPr lang="en-US" sz="175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846183" y="4373523"/>
            <a:ext cx="6504027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"Action" and "Psychological" pain points in fulfillment and logistics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910257"/>
            <a:ext cx="907256" cy="10887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846183" y="5091708"/>
            <a:ext cx="276367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B4150"/>
                </a:solidFill>
                <a:latin typeface="Segoe UI" panose="020B0502040204020203" pitchFamily="34" charset="0"/>
                <a:ea typeface="MuseoModerno Medium" pitchFamily="34" charset="-122"/>
                <a:cs typeface="Segoe UI" panose="020B0502040204020203" pitchFamily="34" charset="0"/>
              </a:rPr>
              <a:t>Double Down on Growth</a:t>
            </a:r>
            <a:endParaRPr lang="en-US" sz="175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846183" y="5462230"/>
            <a:ext cx="6504027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Resilient growth in Media &amp; Essentials category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998964"/>
            <a:ext cx="907256" cy="10887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846183" y="6180415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B4150"/>
                </a:solidFill>
                <a:latin typeface="Segoe UI" panose="020B0502040204020203" pitchFamily="34" charset="0"/>
                <a:ea typeface="MuseoModerno Medium" pitchFamily="34" charset="-122"/>
                <a:cs typeface="Segoe UI" panose="020B0502040204020203" pitchFamily="34" charset="0"/>
              </a:rPr>
              <a:t>Retain High-Value</a:t>
            </a:r>
            <a:endParaRPr lang="en-US" sz="175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1846183" y="6550938"/>
            <a:ext cx="6504027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egoe UI" panose="020B0502040204020203" pitchFamily="34" charset="0"/>
                <a:ea typeface="Source Sans 3" pitchFamily="34" charset="-122"/>
                <a:cs typeface="Segoe UI" panose="020B0502040204020203" pitchFamily="34" charset="0"/>
              </a:rPr>
              <a:t>Implement cluster-specific retention interventions for high-value segments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793790" y="7250906"/>
            <a:ext cx="755642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1193</TotalTime>
  <Words>1221</Words>
  <Application>Microsoft Office PowerPoint</Application>
  <PresentationFormat>Custom</PresentationFormat>
  <Paragraphs>173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Rockwell Extra Bold</vt:lpstr>
      <vt:lpstr>Source Sans 3</vt:lpstr>
      <vt:lpstr>Segoe UI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lastModifiedBy>Wing Ching TAM</cp:lastModifiedBy>
  <cp:revision>11</cp:revision>
  <dcterms:created xsi:type="dcterms:W3CDTF">2026-04-26T13:24:01Z</dcterms:created>
  <dcterms:modified xsi:type="dcterms:W3CDTF">2026-09-21T07:29:07Z</dcterms:modified>
</cp:coreProperties>
</file>